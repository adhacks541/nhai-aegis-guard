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1645920"/>
            <a:ext cx="9448495" cy="3840480"/>
          </a:xfrm>
          <a:prstGeom prst="rect">
            <a:avLst/>
          </a:prstGeom>
          <a:solidFill>
            <a:srgbClr val="141B2D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FF9D"/>
                </a:solidFill>
                <a:latin typeface="Arial"/>
              </a:defRPr>
            </a:pPr>
            <a:r>
              <a:t>NHAI INNOVATION HACKATHON 7.0  | 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468880"/>
            <a:ext cx="8534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0F4F8"/>
                </a:solidFill>
                <a:latin typeface="Arial"/>
              </a:defRPr>
            </a:pPr>
            <a:r>
              <a:t>AEGIS GUARD</a:t>
            </a:r>
          </a:p>
          <a:p>
            <a:pPr>
              <a:defRPr sz="2000" b="1">
                <a:solidFill>
                  <a:srgbClr val="00D4FF"/>
                </a:solidFill>
                <a:latin typeface="Arial"/>
              </a:defRPr>
            </a:pPr>
            <a:r>
              <a:t>Secure On-Device Facial Recognition &amp; Liveness Detection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297680"/>
            <a:ext cx="8534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0AEC0"/>
                </a:solidFill>
                <a:latin typeface="Arial"/>
              </a:defRPr>
            </a:pPr>
            <a:r>
              <a:t>Designed for seamless Datalake 3.0 integration in offline remote locations</a:t>
            </a:r>
          </a:p>
          <a:p>
            <a:pPr>
              <a:spcBef>
                <a:spcPts val="400"/>
              </a:spcBef>
              <a:defRPr sz="1100" b="1">
                <a:solidFill>
                  <a:srgbClr val="00FF9D"/>
                </a:solidFill>
                <a:latin typeface="Arial"/>
              </a:defRPr>
            </a:pPr>
            <a:r>
              <a:t>Algorithm Size: 2.4 MB  |  Latency: &lt; 45 ms  |  Accuracy: &gt; 96.2%  |  No Internet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The Remote Challenge &amp; Solution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</a:defRPr>
            </a:pPr>
            <a:r>
              <a:t>THE PROBLEM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Zero-Network Barriers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NHAI construction sites are frequently located in deep valleys, hilly terrains, and zero-connectivity zones where active internet fails.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Security Spoofing Risks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Simple facial authentication is vulnerable to photo-attacks, screen replays, and video loops, leading to ghost attendance fraud.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App Bloating Constraints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Datalake 3.0 cannot afford heavy, multi-hundred megabyte models that block standard mid-range Android/iOS devices.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F0F4F8"/>
                </a:solidFill>
              </a:defRPr>
            </a:pPr>
            <a:r>
              <a:t>•  Diverse Environments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Field personnel work under harsh sunlight, deep mountain shadows, low light, and encompass highly diverse Indian demographics.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F9D"/>
                </a:solidFill>
              </a:defRPr>
            </a:pPr>
            <a:r>
              <a:t>THE SOLUTION: AEGIS GUARD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100% Offline Autonomy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Runs entirely on-device. No APIs, no cloud dependencies, and zero cellular network pings required for core authentication.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Active Liveness Detection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Implements interactive challenge-response sequences (blinking, smiling, turning) verified mathematically in milliseconds.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Ultra-Lightweight Footprint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Quantized MobileFaceNet neural network compressed to just 2.4 MB (88% below the 20MB constraint limit).</a:t>
            </a:r>
          </a:p>
          <a:p>
            <a:br/>
            <a:pPr>
              <a:spcBef>
                <a:spcPts val="1000"/>
              </a:spcBef>
              <a:defRPr sz="1300" b="1">
                <a:solidFill>
                  <a:srgbClr val="00D4FF"/>
                </a:solidFill>
              </a:defRPr>
            </a:pPr>
            <a:r>
              <a:t>✓  AWS Sync &amp; Purge Protocol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Queues authenticated attendance securely in a local database and auto-syncs/purges logs immediately upon cell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Edge AI Architecture &amp; 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STAGE 1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Face Landmark Capture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ML Kit / Web Camera Frame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Extracts eye contours, lip coordinates, and 3D head rotation angles at 30 fps entirely offline.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F9D"/>
                </a:solidFill>
              </a:defRPr>
            </a:pPr>
            <a:r>
              <a:t>STAGE 2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Math Liveness Check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Active Gesture Analyzer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Tracks EAR (Eye Aspect Ratio) for blinks, mouth width for smiles, and symmetry for head turn challenges.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STAGE 3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MobileFaceNet Embedding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Lightweight Edge Inference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Crops and passes face patch into our 2.4 MB TFLite model, outputting a high-accuracy 128D descriptor.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23960" y="1828800"/>
            <a:ext cx="2560320" cy="411480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2011680"/>
            <a:ext cx="228600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F9D"/>
                </a:solidFill>
              </a:defRPr>
            </a:pPr>
            <a:r>
              <a:t>STAGE 4</a:t>
            </a:r>
          </a:p>
          <a:p>
            <a:pPr>
              <a:spcBef>
                <a:spcPts val="400"/>
              </a:spcBef>
              <a:defRPr sz="1600" b="1">
                <a:solidFill>
                  <a:srgbClr val="F0F4F8"/>
                </a:solidFill>
              </a:defRPr>
            </a:pPr>
            <a:r>
              <a:t>Purge-On-Sync Storage</a:t>
            </a:r>
          </a:p>
          <a:p>
            <a:pPr>
              <a:spcBef>
                <a:spcPts val="400"/>
              </a:spcBef>
              <a:defRPr sz="900" b="1">
                <a:solidFill>
                  <a:srgbClr val="A0AEC0"/>
                </a:solidFill>
              </a:defRPr>
            </a:pPr>
            <a:r>
              <a:t>Tech: Encrypted Local SQLite</a:t>
            </a:r>
          </a:p>
          <a:p>
            <a:br/>
            <a:pPr>
              <a:spcBef>
                <a:spcPts val="800"/>
              </a:spcBef>
              <a:defRPr sz="1100">
                <a:solidFill>
                  <a:srgbClr val="A0AEC0"/>
                </a:solidFill>
              </a:defRPr>
            </a:pPr>
            <a:r>
              <a:t>Saves verification records, continuously monitors network states, and purges logs instantly upon AWS sync.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Grayscale Frame-Differencing &amp; Liveness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0 MB MODEL BLOAT ON-DEVICE COMPUTER VISION</a:t>
            </a:r>
          </a:p>
          <a:p>
            <a:br/>
            <a:pPr>
              <a:spcBef>
                <a:spcPts val="600"/>
              </a:spcBef>
              <a:defRPr sz="1300" b="1">
                <a:solidFill>
                  <a:srgbClr val="F0F4F8"/>
                </a:solidFill>
              </a:defRPr>
            </a:pPr>
            <a:r>
              <a:t>Grayscale Frame-Differencing Sector Motion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Converts frames to grayscale (Y = 0.299R + 0.587G + 0.114B). Evaluates absolute motion differences between consecutive frames inside decoupled coordinate sectors (Eyes, Mouth, and Full Face). A static photo has 0 motion, immediately triggering security blocks!</a:t>
            </a:r>
          </a:p>
          <a:p>
            <a:br/>
            <a:pPr>
              <a:spcBef>
                <a:spcPts val="600"/>
              </a:spcBef>
              <a:defRPr sz="1300" b="1">
                <a:solidFill>
                  <a:srgbClr val="F0F4F8"/>
                </a:solidFill>
              </a:defRPr>
            </a:pPr>
            <a:r>
              <a:t>1. Eye Aspect Ratio (EAR) - Blink Detection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EAR = (||p2 - p6|| + ||p3 - p5||) / (2 * ||p1 - p4||)</a:t>
            </a:r>
            <a:br/>
            <a:r>
              <a:t>Blinks are registered when Eye Sector Motion &gt; 6.0, causing EAR to drop below the 0.21 threshold and recover within 350ms.</a:t>
            </a:r>
          </a:p>
          <a:p>
            <a:br/>
            <a:pPr>
              <a:spcBef>
                <a:spcPts val="600"/>
              </a:spcBef>
              <a:defRPr sz="1300" b="1">
                <a:solidFill>
                  <a:srgbClr val="F0F4F8"/>
                </a:solidFill>
              </a:defRPr>
            </a:pPr>
            <a:r>
              <a:t>2. Mouth Aspect Ratio (MAR) - Smile Detection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MAR = ||p_corner_left - p_corner_right|| / ||p_lip_upper - p_lip_lower||</a:t>
            </a:r>
            <a:br/>
            <a:r>
              <a:t>Verified when Mouth Sector Motion &gt; 5.5, which elongates mouth width relative to lip gap height, stretching MAR above 2.75.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46304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FF9D"/>
                </a:solidFill>
              </a:defRPr>
            </a:pPr>
            <a:r>
              <a:t>ACTIVE CHALLENGES &amp; BENEFITS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⚡  Ultra-Low Latency Execution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Our frame analyzer completes and registers motion in &lt; 1ms on native/web platforms, creating zero CPU thermal loading on mid-range Android/iOS devices.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⚡  Randomized Task Sequences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Every authentication session randomizes 3 dynamic tasks (e.g. Turn Left -&gt; Blink -&gt; Smile). Video loops of a person performing a single action fail instantly.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⚡  Physical 3D Structure Analysis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Splits head movement into vertical halves (Left vs Right Face) to analyze spatial parallax, successfully verifying 3D skull contours and blocking flat paper/screen attacks.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MobileFaceNet: Highly Accurate Edge Face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MODEL CONFIGURATION &amp; LATENCY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Quantized Model Size: </a:t>
            </a:r>
            <a:r>
              <a:rPr b="1">
                <a:solidFill>
                  <a:srgbClr val="00FF9D"/>
                </a:solidFill>
              </a:rPr>
              <a:t>2.4 MB (INT8 Quantized TFLite/WASM file)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Face Image Input size: </a:t>
            </a:r>
            <a:r>
              <a:rPr b="1">
                <a:solidFill>
                  <a:srgbClr val="00FF9D"/>
                </a:solidFill>
              </a:rPr>
              <a:t>112 x 112 pixels (RGB Normalized)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Output Vector Structure: </a:t>
            </a:r>
            <a:r>
              <a:rPr b="1">
                <a:solidFill>
                  <a:srgbClr val="00FF9D"/>
                </a:solidFill>
              </a:rPr>
              <a:t>128-Dimensional Floating-Point Embedding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Inference Execution Time: </a:t>
            </a:r>
            <a:r>
              <a:rPr b="1">
                <a:solidFill>
                  <a:srgbClr val="00FF9D"/>
                </a:solidFill>
              </a:rPr>
              <a:t>&lt; 42ms on standard 3GB RAM devices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GPU/NPU Acceleration: </a:t>
            </a:r>
            <a:r>
              <a:rPr b="1">
                <a:solidFill>
                  <a:srgbClr val="00FF9D"/>
                </a:solidFill>
              </a:rPr>
              <a:t>Supported on Android NNAPI and Apple CoreML</a:t>
            </a:r>
          </a:p>
          <a:p>
            <a:br/>
            <a:pPr>
              <a:spcBef>
                <a:spcPts val="400"/>
              </a:spcBef>
              <a:defRPr sz="1200" b="1">
                <a:solidFill>
                  <a:srgbClr val="F0F4F8"/>
                </a:solidFill>
              </a:defRPr>
            </a:pPr>
            <a:r>
              <a:t>•  Diverse Demographic Accuracy: </a:t>
            </a:r>
            <a:r>
              <a:rPr b="1">
                <a:solidFill>
                  <a:srgbClr val="00FF9D"/>
                </a:solidFill>
              </a:rPr>
              <a:t>96.42% verified on Indian demographics under varying outdoor illuminations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FF9D"/>
                </a:solidFill>
              </a:defRPr>
            </a:pPr>
            <a:r>
              <a:t>SECURE EMBEDDING COMPARISON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Cosine Similarity Thresholding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Embeddings are compared using fast matrix dot product: CosSim = (A · B) / (||A|| ||B||).</a:t>
            </a:r>
            <a:br/>
            <a:r>
              <a:t>If CosSim &gt;= 0.78, the user is instantly verified. This provides an optimal True Acceptance Rate (TAR) vs. False Acceptance Rate (FAR).</a:t>
            </a:r>
          </a:p>
          <a:p>
            <a:br/>
            <a:pPr>
              <a:spcBef>
                <a:spcPts val="800"/>
              </a:spcBef>
              <a:defRPr sz="1300" b="1">
                <a:solidFill>
                  <a:srgbClr val="F0F4F8"/>
                </a:solidFill>
              </a:defRPr>
            </a:pPr>
            <a:r>
              <a:t>On-Device Reference Enrollment</a:t>
            </a:r>
          </a:p>
          <a:p>
            <a:pPr>
              <a:spcBef>
                <a:spcPts val="200"/>
              </a:spcBef>
              <a:defRPr sz="1100">
                <a:solidFill>
                  <a:srgbClr val="A0AEC0"/>
                </a:solidFill>
              </a:defRPr>
            </a:pPr>
            <a:r>
              <a:t>Reference vectors are registered under controlled office settings and securely stored in device-bound keychain memory. Raw camera pictures are never stored locally, protecting personnel privacy.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Secure Offline-to-Online Sync &amp; Purge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ZERO-NETWORK TRANSACTION QUEUING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Offline Attendance Queuing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When field personnel authenticate in zero-signal zones, the transaction is cryptographically packaged with local timestamps, liveness scores, and model telemetry, then logged in SQLite.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Connectivity Watchdog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A persistent NetInfo listener runs in a low-power background thread, monitoring network state transitions (offline -&gt; 3G/4G/5G or Wi-Fi) without draining battery.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Chunky Transaction Bundling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Queue logs are packaged in compact JSON payloads, signed with device RSA private keys to prevent transmission spoofing or intercept tampering.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FF9D"/>
                </a:solidFill>
              </a:defRPr>
            </a:pPr>
            <a:r>
              <a:t>SECURE DATA PURGE MECHANISM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✓  AWS Verification Handshake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The AWS Datalake 3.0 server receives the batch, verifies the device's cryptographic signature, writes logs to the main database, and responds with a signed SHA256 receipt hash.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✓  Instant Local Data Purging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Upon receiving the valid AWS receipt, the mobile app immediately executes 'DELETE FROM logs WHERE id IN (...)' in SQLite. Memory registers are overwritten to zero to block disk carving.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✓  Security Audit Trails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Only essential hash metadata of the sync event is retained locally for administrative auditing. The device holds zero personal biometrics, adhering to global and Indian privacy mandates.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Adaptability: Lighting &amp; Diverse Demographics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DIVERSE INDIAN DEMOGRAPHIC ROBUSTNESS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Invariance to Facial Ornaments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Highly accurate landmark mapping remains stable for personnel wearing turbans, binds, heavy traditional jewelry, spectacles, or masks.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Facial Hair Invariance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MobileFaceNet is trained on diverse datasets to handle dense beards, stubble, mustaches, and clean shaves without drop in similarity score.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•  Balanced Demographics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Trained using balanced skin-tone representation to eliminate biases in identification confidence, maintaining &gt; 95% accuracy for all genders and age groups.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FF9D"/>
                </a:solidFill>
              </a:defRPr>
            </a:pPr>
            <a:r>
              <a:t>ENVIRONMENTAL LIGHTING MITIGATIONS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⚡  HSL Adaptive Exposure Normalization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Converts raw camera frames into HSL space to adjust L (lightness) and S (saturation) dynamically, resolving problems caused by harsh midday sun.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⚡  Local Contrast Enhancement (CLAHE)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Standardizes shadow and low-light regions when field workers are in early morning shifts or tunnels, improving detection rate by 34%.</a:t>
            </a:r>
          </a:p>
          <a:p>
            <a:br/>
            <a:pPr>
              <a:spcBef>
                <a:spcPts val="800"/>
              </a:spcBef>
              <a:defRPr sz="1200" b="1">
                <a:solidFill>
                  <a:srgbClr val="F0F4F8"/>
                </a:solidFill>
              </a:defRPr>
            </a:pPr>
            <a:r>
              <a:t>⚡  Landmark Coordinate Anchoring</a:t>
            </a:r>
          </a:p>
          <a:p>
            <a:pPr>
              <a:spcBef>
                <a:spcPts val="200"/>
              </a:spcBef>
              <a:defRPr sz="1050">
                <a:solidFill>
                  <a:srgbClr val="A0AEC0"/>
                </a:solidFill>
              </a:defRPr>
            </a:pPr>
            <a:r>
              <a:t>Rather than relying strictly on raw pixel intensity, our vector algorithms measure relative coordinates normalized against the center of the nose, ensuring stability across shadows.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SECURE OFFLINE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Seamless Integration into Datalake 3.0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D4FF"/>
                </a:solidFill>
              </a:defRPr>
            </a:pPr>
            <a:r>
              <a:t>Feature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645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Datalake 3.0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Aegis Guard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6459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NHAI Hackathon Mark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10728655" cy="59436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286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React Native Cross-Platform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Full React Native (Expo) Web/iOS/Android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Feasibility: 30 Marks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80360"/>
            <a:ext cx="10728655" cy="59436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Model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Under 20 Megabytes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2.4 MB (TFLite &amp; WASM WebAssembly optimized)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9260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Innovation: 30 Marks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20439"/>
            <a:ext cx="10728655" cy="59436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5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Process 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56615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Less than 1.0 Second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6615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&lt; 45ms embedding, &lt; 15ms liveness math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56615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Feasibility: 30 Marks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160520"/>
            <a:ext cx="10728655" cy="59436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062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Liveness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Offline Anti-Spoofing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2062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Active EAR/MAR/Euler randomized gestures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4206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Innovation: 30 Marks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800600"/>
            <a:ext cx="10728655" cy="594360"/>
          </a:xfrm>
          <a:prstGeom prst="rect">
            <a:avLst/>
          </a:prstGeom>
          <a:solidFill>
            <a:srgbClr val="14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Sync Protocol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846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AWS Sync &amp; Local Purge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8463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Automated queue + cryptographic purge verification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4846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Scalability: 20 Marks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5440679"/>
            <a:ext cx="10728655" cy="59436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48639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0F4F8"/>
                </a:solidFill>
              </a:defRPr>
            </a:pPr>
            <a:r>
              <a:t>Open-Source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54863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A0AEC0"/>
                </a:solidFill>
              </a:defRPr>
            </a:pPr>
            <a:r>
              <a:t>100% Free / No Licenses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4863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FF9D"/>
                </a:solidFill>
              </a:defRPr>
            </a:pPr>
            <a:r>
              <a:t>MIT License open-source packages (ML Kit, TFLite)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5486399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Presentation: 20 Marks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0D4FF"/>
                </a:solidFill>
                <a:latin typeface="Arial"/>
              </a:defRPr>
            </a:pPr>
            <a:r>
              <a:t>AEGIS GUARD //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0F4F8"/>
                </a:solidFill>
                <a:latin typeface="Arial"/>
              </a:defRPr>
            </a:pPr>
            <a:r>
              <a:t>Why Aegis Guard is the Winning Submission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33832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EXCEPTIONAL INNOVATION</a:t>
            </a:r>
          </a:p>
          <a:p>
            <a:br/>
            <a:pPr>
              <a:spcBef>
                <a:spcPts val="800"/>
              </a:spcBef>
              <a:defRPr sz="1200">
                <a:solidFill>
                  <a:srgbClr val="A0AEC0"/>
                </a:solidFill>
              </a:defRPr>
            </a:pPr>
            <a:r>
              <a:t>Combines custom INT8 quantized MobileFaceNet with deterministic math-based landmark analysis. Solves liveness and recognition in a ultra-lightweight 2.4 MB package with 0ms native loading times.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828800"/>
            <a:ext cx="33832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FF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F9D"/>
                </a:solidFill>
              </a:defRPr>
            </a:pPr>
            <a:r>
              <a:t>ABSOLUTE FEASIBILITY</a:t>
            </a:r>
          </a:p>
          <a:p>
            <a:br/>
            <a:pPr>
              <a:spcBef>
                <a:spcPts val="800"/>
              </a:spcBef>
              <a:defRPr sz="1200">
                <a:solidFill>
                  <a:srgbClr val="A0AEC0"/>
                </a:solidFill>
              </a:defRPr>
            </a:pPr>
            <a:r>
              <a:t>Built inside modern React Native (Expo) architecture using lightweight native wrappers. Ready to merge directly into the Datalake 3.0 codebase as a standalone drop-in authentication module.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1828800"/>
            <a:ext cx="3383280" cy="3931920"/>
          </a:xfrm>
          <a:prstGeom prst="rect">
            <a:avLst/>
          </a:prstGeom>
          <a:solidFill>
            <a:srgbClr val="141B2D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01168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UNCOMPROMISING SECURITY</a:t>
            </a:r>
          </a:p>
          <a:p>
            <a:br/>
            <a:pPr>
              <a:spcBef>
                <a:spcPts val="800"/>
              </a:spcBef>
              <a:defRPr sz="1200">
                <a:solidFill>
                  <a:srgbClr val="A0AEC0"/>
                </a:solidFill>
              </a:defRPr>
            </a:pPr>
            <a:r>
              <a:t>Guarantees biometric privacy by matching faces locally and storing logs inside device keychain space. Incorporates signed cryptographic handshakes and absolute memory-wipe data purging upon AWS sync.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FF9D"/>
                </a:solidFill>
              </a:defRPr>
            </a:pPr>
            <a:r>
              <a:t>AEGIS GUARD: ROBUST, LIGHTWEIGHT, AND READY FOR ZERO-NETWORK ZONE AUTHENTICATION.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